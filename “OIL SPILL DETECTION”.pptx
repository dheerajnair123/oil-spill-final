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Century Schoolbook"/>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enturySchoolbook-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CenturySchoolbook-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CenturySchoolbook-italic.fntdata"/><Relationship Id="rId6" Type="http://schemas.openxmlformats.org/officeDocument/2006/relationships/notesMaster" Target="notesMasters/notesMaster1.xml"/><Relationship Id="rId18" Type="http://schemas.openxmlformats.org/officeDocument/2006/relationships/font" Target="fonts/CenturySchoolbook-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775ac2a78_1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g3b775ac2a78_1_4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775ac2a78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g3b775ac2a78_1_5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775ac2a78_1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3b775ac2a78_1_5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775ac2a78_1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g3b775ac2a78_1_6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775ac2a78_1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g3b775ac2a78_1_7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775ac2a78_1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b775ac2a78_1_8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775ac2a78_1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3b775ac2a78_1_9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775ac2a78_1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b775ac2a78_1_10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775ac2a78_1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b775ac2a78_1_11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b775ac2a78_1_13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b775ac2a78_1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9" name="Shape 59"/>
        <p:cNvGrpSpPr/>
        <p:nvPr/>
      </p:nvGrpSpPr>
      <p:grpSpPr>
        <a:xfrm>
          <a:off x="0" y="0"/>
          <a:ext cx="0" cy="0"/>
          <a:chOff x="0" y="0"/>
          <a:chExt cx="0" cy="0"/>
        </a:xfrm>
      </p:grpSpPr>
      <p:sp>
        <p:nvSpPr>
          <p:cNvPr id="60" name="Google Shape;60;p14"/>
          <p:cNvSpPr txBox="1"/>
          <p:nvPr>
            <p:ph type="title"/>
          </p:nvPr>
        </p:nvSpPr>
        <p:spPr>
          <a:xfrm>
            <a:off x="1753870" y="362198"/>
            <a:ext cx="5636400" cy="52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440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 type="body"/>
          </p:nvPr>
        </p:nvSpPr>
        <p:spPr>
          <a:xfrm>
            <a:off x="535940" y="1177635"/>
            <a:ext cx="8073300" cy="25569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400">
                <a:solidFill>
                  <a:schemeClr val="dk1"/>
                </a:solidFill>
                <a:latin typeface="Century Schoolbook"/>
                <a:ea typeface="Century Schoolbook"/>
                <a:cs typeface="Century Schoolbook"/>
                <a:sym typeface="Century Schoolbook"/>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2" name="Google Shape;62;p14"/>
          <p:cNvSpPr txBox="1"/>
          <p:nvPr>
            <p:ph idx="11" type="ftr"/>
          </p:nvPr>
        </p:nvSpPr>
        <p:spPr>
          <a:xfrm>
            <a:off x="1379347" y="4437898"/>
            <a:ext cx="7220700" cy="576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4"/>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5" name="Shape 65"/>
        <p:cNvGrpSpPr/>
        <p:nvPr/>
      </p:nvGrpSpPr>
      <p:grpSpPr>
        <a:xfrm>
          <a:off x="0" y="0"/>
          <a:ext cx="0" cy="0"/>
          <a:chOff x="0" y="0"/>
          <a:chExt cx="0" cy="0"/>
        </a:xfrm>
      </p:grpSpPr>
      <p:sp>
        <p:nvSpPr>
          <p:cNvPr id="66" name="Google Shape;66;p15"/>
          <p:cNvSpPr txBox="1"/>
          <p:nvPr>
            <p:ph type="ctrTitle"/>
          </p:nvPr>
        </p:nvSpPr>
        <p:spPr>
          <a:xfrm>
            <a:off x="803554" y="161030"/>
            <a:ext cx="7536900" cy="933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400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5"/>
          <p:cNvSpPr txBox="1"/>
          <p:nvPr>
            <p:ph idx="11" type="ftr"/>
          </p:nvPr>
        </p:nvSpPr>
        <p:spPr>
          <a:xfrm>
            <a:off x="1379347" y="4437898"/>
            <a:ext cx="7220700" cy="576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F">
  <p:cSld name="TITLE_AND_BODY_2_1_1_1_1_1_1_1_1">
    <p:spTree>
      <p:nvGrpSpPr>
        <p:cNvPr id="71" name="Shape 71"/>
        <p:cNvGrpSpPr/>
        <p:nvPr/>
      </p:nvGrpSpPr>
      <p:grpSpPr>
        <a:xfrm>
          <a:off x="0" y="0"/>
          <a:ext cx="0" cy="0"/>
          <a:chOff x="0" y="0"/>
          <a:chExt cx="0" cy="0"/>
        </a:xfrm>
      </p:grpSpPr>
      <p:sp>
        <p:nvSpPr>
          <p:cNvPr id="72" name="Google Shape;72;p16"/>
          <p:cNvSpPr txBox="1"/>
          <p:nvPr>
            <p:ph type="title"/>
          </p:nvPr>
        </p:nvSpPr>
        <p:spPr>
          <a:xfrm>
            <a:off x="350350" y="226400"/>
            <a:ext cx="3505500" cy="10944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6"/>
          <p:cNvSpPr txBox="1"/>
          <p:nvPr>
            <p:ph idx="1" type="body"/>
          </p:nvPr>
        </p:nvSpPr>
        <p:spPr>
          <a:xfrm>
            <a:off x="350350" y="1598500"/>
            <a:ext cx="3505500" cy="3318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4" name="Google Shape;74;p16"/>
          <p:cNvSpPr/>
          <p:nvPr>
            <p:ph idx="2" type="pic"/>
          </p:nvPr>
        </p:nvSpPr>
        <p:spPr>
          <a:xfrm>
            <a:off x="4101622" y="226350"/>
            <a:ext cx="4690800" cy="46908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5" name="Shape 75"/>
        <p:cNvGrpSpPr/>
        <p:nvPr/>
      </p:nvGrpSpPr>
      <p:grpSpPr>
        <a:xfrm>
          <a:off x="0" y="0"/>
          <a:ext cx="0" cy="0"/>
          <a:chOff x="0" y="0"/>
          <a:chExt cx="0" cy="0"/>
        </a:xfrm>
      </p:grpSpPr>
      <p:sp>
        <p:nvSpPr>
          <p:cNvPr id="76" name="Google Shape;76;p17"/>
          <p:cNvSpPr txBox="1"/>
          <p:nvPr>
            <p:ph type="title"/>
          </p:nvPr>
        </p:nvSpPr>
        <p:spPr>
          <a:xfrm>
            <a:off x="1753870" y="362198"/>
            <a:ext cx="5636400" cy="52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440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1" type="ftr"/>
          </p:nvPr>
        </p:nvSpPr>
        <p:spPr>
          <a:xfrm>
            <a:off x="1379347" y="4437898"/>
            <a:ext cx="7220700" cy="576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0" name="Shape 80"/>
        <p:cNvGrpSpPr/>
        <p:nvPr/>
      </p:nvGrpSpPr>
      <p:grpSpPr>
        <a:xfrm>
          <a:off x="0" y="0"/>
          <a:ext cx="0" cy="0"/>
          <a:chOff x="0" y="0"/>
          <a:chExt cx="0" cy="0"/>
        </a:xfrm>
      </p:grpSpPr>
      <p:sp>
        <p:nvSpPr>
          <p:cNvPr id="81" name="Google Shape;81;p18"/>
          <p:cNvSpPr txBox="1"/>
          <p:nvPr>
            <p:ph idx="11" type="ftr"/>
          </p:nvPr>
        </p:nvSpPr>
        <p:spPr>
          <a:xfrm>
            <a:off x="1379347" y="4437898"/>
            <a:ext cx="7220700" cy="576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8"/>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4" name="Shape 84"/>
        <p:cNvGrpSpPr/>
        <p:nvPr/>
      </p:nvGrpSpPr>
      <p:grpSpPr>
        <a:xfrm>
          <a:off x="0" y="0"/>
          <a:ext cx="0" cy="0"/>
          <a:chOff x="0" y="0"/>
          <a:chExt cx="0" cy="0"/>
        </a:xfrm>
      </p:grpSpPr>
      <p:sp>
        <p:nvSpPr>
          <p:cNvPr id="85" name="Google Shape;85;p19"/>
          <p:cNvSpPr txBox="1"/>
          <p:nvPr>
            <p:ph type="title"/>
          </p:nvPr>
        </p:nvSpPr>
        <p:spPr>
          <a:xfrm>
            <a:off x="1753870" y="362198"/>
            <a:ext cx="5636400" cy="52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440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9"/>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7" name="Google Shape;87;p19"/>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8" name="Google Shape;88;p19"/>
          <p:cNvSpPr txBox="1"/>
          <p:nvPr>
            <p:ph idx="11" type="ftr"/>
          </p:nvPr>
        </p:nvSpPr>
        <p:spPr>
          <a:xfrm>
            <a:off x="1379347" y="4437898"/>
            <a:ext cx="7220700" cy="576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9"/>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4362434"/>
            <a:ext cx="1062000" cy="781200"/>
          </a:xfrm>
          <a:prstGeom prst="rect">
            <a:avLst/>
          </a:pr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 name="Google Shape;52;p13"/>
          <p:cNvSpPr/>
          <p:nvPr/>
        </p:nvSpPr>
        <p:spPr>
          <a:xfrm>
            <a:off x="0" y="4229100"/>
            <a:ext cx="9144000" cy="114300"/>
          </a:xfrm>
          <a:custGeom>
            <a:rect b="b" l="l" r="r" t="t"/>
            <a:pathLst>
              <a:path extrusionOk="0" h="152400" w="9144000">
                <a:moveTo>
                  <a:pt x="0" y="152400"/>
                </a:moveTo>
                <a:lnTo>
                  <a:pt x="9144000" y="152400"/>
                </a:lnTo>
                <a:lnTo>
                  <a:pt x="9144000" y="0"/>
                </a:lnTo>
                <a:lnTo>
                  <a:pt x="0" y="0"/>
                </a:lnTo>
                <a:lnTo>
                  <a:pt x="0" y="152400"/>
                </a:lnTo>
                <a:close/>
              </a:path>
            </a:pathLst>
          </a:custGeom>
          <a:solidFill>
            <a:srgbClr val="00006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13"/>
          <p:cNvSpPr/>
          <p:nvPr/>
        </p:nvSpPr>
        <p:spPr>
          <a:xfrm>
            <a:off x="0" y="4229100"/>
            <a:ext cx="9144000" cy="114300"/>
          </a:xfrm>
          <a:custGeom>
            <a:rect b="b" l="l" r="r" t="t"/>
            <a:pathLst>
              <a:path extrusionOk="0" h="152400" w="9144000">
                <a:moveTo>
                  <a:pt x="0" y="152400"/>
                </a:moveTo>
                <a:lnTo>
                  <a:pt x="9144000" y="152400"/>
                </a:lnTo>
                <a:lnTo>
                  <a:pt x="9144000" y="0"/>
                </a:lnTo>
                <a:lnTo>
                  <a:pt x="0" y="0"/>
                </a:lnTo>
                <a:lnTo>
                  <a:pt x="0" y="1524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 name="Google Shape;54;p13"/>
          <p:cNvSpPr txBox="1"/>
          <p:nvPr>
            <p:ph type="title"/>
          </p:nvPr>
        </p:nvSpPr>
        <p:spPr>
          <a:xfrm>
            <a:off x="1753870" y="362198"/>
            <a:ext cx="5636400" cy="52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chemeClr val="hlink"/>
                </a:solidFill>
                <a:latin typeface="Century Schoolbook"/>
                <a:ea typeface="Century Schoolbook"/>
                <a:cs typeface="Century Schoolbook"/>
                <a:sym typeface="Century Schoolboo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13"/>
          <p:cNvSpPr txBox="1"/>
          <p:nvPr>
            <p:ph idx="1" type="body"/>
          </p:nvPr>
        </p:nvSpPr>
        <p:spPr>
          <a:xfrm>
            <a:off x="535940" y="1177635"/>
            <a:ext cx="8073300" cy="25569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entury Schoolbook"/>
                <a:ea typeface="Century Schoolbook"/>
                <a:cs typeface="Century Schoolbook"/>
                <a:sym typeface="Century Schoolbook"/>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56" name="Google Shape;56;p13"/>
          <p:cNvSpPr txBox="1"/>
          <p:nvPr>
            <p:ph idx="11" type="ftr"/>
          </p:nvPr>
        </p:nvSpPr>
        <p:spPr>
          <a:xfrm>
            <a:off x="1379347" y="4437898"/>
            <a:ext cx="7220700" cy="576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800" u="none" cap="none" strike="noStrike">
                <a:solidFill>
                  <a:srgbClr val="00006C"/>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3"/>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jp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nvSpPr>
        <p:spPr>
          <a:xfrm>
            <a:off x="1280160" y="4457290"/>
            <a:ext cx="7496601" cy="504673"/>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MITSoC, Loni Kalbhor</a:t>
            </a:r>
            <a:endParaRPr b="1" i="1" sz="1800" u="none" cap="none" strike="noStrike">
              <a:solidFill>
                <a:srgbClr val="C00000"/>
              </a:solidFill>
              <a:latin typeface="Times New Roman"/>
              <a:ea typeface="Times New Roman"/>
              <a:cs typeface="Times New Roman"/>
              <a:sym typeface="Times New Roman"/>
            </a:endParaRPr>
          </a:p>
        </p:txBody>
      </p:sp>
      <p:sp>
        <p:nvSpPr>
          <p:cNvPr id="96" name="Google Shape;96;p20"/>
          <p:cNvSpPr/>
          <p:nvPr/>
        </p:nvSpPr>
        <p:spPr>
          <a:xfrm>
            <a:off x="2514600" y="2880360"/>
            <a:ext cx="3733800" cy="254025"/>
          </a:xfrm>
          <a:prstGeom prst="rect">
            <a:avLst/>
          </a:prstGeom>
          <a:noFill/>
          <a:ln>
            <a:noFill/>
          </a:ln>
        </p:spPr>
        <p:txBody>
          <a:bodyPr anchorCtr="0" anchor="t" bIns="45700" lIns="91425" spcFirstLastPara="1" rIns="91425" wrap="square" tIns="45700">
            <a:noAutofit/>
          </a:bodyPr>
          <a:lstStyle/>
          <a:p>
            <a:pPr indent="-519112" lvl="0" marL="639762"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97" name="Google Shape;97;p20"/>
          <p:cNvSpPr txBox="1"/>
          <p:nvPr>
            <p:ph type="title"/>
          </p:nvPr>
        </p:nvSpPr>
        <p:spPr>
          <a:xfrm>
            <a:off x="267300" y="1463925"/>
            <a:ext cx="86094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GB" sz="3600">
                <a:solidFill>
                  <a:srgbClr val="073763"/>
                </a:solidFill>
                <a:latin typeface="Times New Roman"/>
                <a:ea typeface="Times New Roman"/>
                <a:cs typeface="Times New Roman"/>
                <a:sym typeface="Times New Roman"/>
              </a:rPr>
              <a:t>“OIL SPILL DETECTION”</a:t>
            </a:r>
            <a:endParaRPr>
              <a:solidFill>
                <a:srgbClr val="073763"/>
              </a:solidFill>
              <a:latin typeface="Times New Roman"/>
              <a:ea typeface="Times New Roman"/>
              <a:cs typeface="Times New Roman"/>
              <a:sym typeface="Times New Roman"/>
            </a:endParaRPr>
          </a:p>
        </p:txBody>
      </p:sp>
      <p:sp>
        <p:nvSpPr>
          <p:cNvPr id="98" name="Google Shape;98;p20"/>
          <p:cNvSpPr txBox="1"/>
          <p:nvPr/>
        </p:nvSpPr>
        <p:spPr>
          <a:xfrm>
            <a:off x="633150" y="2433956"/>
            <a:ext cx="7496700" cy="11772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Times New Roman"/>
                <a:ea typeface="Times New Roman"/>
                <a:cs typeface="Times New Roman"/>
                <a:sym typeface="Times New Roman"/>
              </a:rPr>
              <a:t>MITU22BTCS0228:- Kunal Borse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Times New Roman"/>
                <a:ea typeface="Times New Roman"/>
                <a:cs typeface="Times New Roman"/>
                <a:sym typeface="Times New Roman"/>
              </a:rPr>
              <a:t>   MITU22BTCS0:- Rugved Shete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Times New Roman"/>
                <a:ea typeface="Times New Roman"/>
                <a:cs typeface="Times New Roman"/>
                <a:sym typeface="Times New Roman"/>
              </a:rPr>
              <a:t>MITU22BTCS0260:-  Dheeraj Nair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Times New Roman"/>
                <a:ea typeface="Times New Roman"/>
                <a:cs typeface="Times New Roman"/>
                <a:sym typeface="Times New Roman"/>
              </a:rPr>
              <a:t>Guided by:- Prof. Vilas Khedekar</a:t>
            </a:r>
            <a:endParaRPr b="1" i="0" sz="16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Times New Roman"/>
              <a:ea typeface="Times New Roman"/>
              <a:cs typeface="Times New Roman"/>
              <a:sym typeface="Times New Roman"/>
            </a:endParaRPr>
          </a:p>
        </p:txBody>
      </p:sp>
      <p:sp>
        <p:nvSpPr>
          <p:cNvPr id="99" name="Google Shape;99;p20"/>
          <p:cNvSpPr txBox="1"/>
          <p:nvPr/>
        </p:nvSpPr>
        <p:spPr>
          <a:xfrm>
            <a:off x="2878691" y="416646"/>
            <a:ext cx="3384884" cy="8079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GB" sz="3200" u="none" cap="none" strike="noStrike">
                <a:solidFill>
                  <a:srgbClr val="000000"/>
                </a:solidFill>
                <a:latin typeface="Times New Roman"/>
                <a:ea typeface="Times New Roman"/>
                <a:cs typeface="Times New Roman"/>
                <a:sym typeface="Times New Roman"/>
              </a:rPr>
              <a:t>Project Presentation</a:t>
            </a:r>
            <a:endParaRPr b="0" i="0" sz="1400" u="none" cap="none" strike="noStrike">
              <a:solidFill>
                <a:srgbClr val="000000"/>
              </a:solidFill>
              <a:latin typeface="Arial"/>
              <a:ea typeface="Arial"/>
              <a:cs typeface="Arial"/>
              <a:sym typeface="Arial"/>
            </a:endParaRPr>
          </a:p>
        </p:txBody>
      </p:sp>
      <p:pic>
        <p:nvPicPr>
          <p:cNvPr id="100" name="Google Shape;100;p20"/>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830592" y="306035"/>
            <a:ext cx="6932100" cy="4155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GB" sz="2800">
                <a:solidFill>
                  <a:srgbClr val="073763"/>
                </a:solidFill>
                <a:latin typeface="Times New Roman"/>
                <a:ea typeface="Times New Roman"/>
                <a:cs typeface="Times New Roman"/>
                <a:sym typeface="Times New Roman"/>
              </a:rPr>
              <a:t>Outline</a:t>
            </a:r>
            <a:endParaRPr>
              <a:solidFill>
                <a:srgbClr val="073763"/>
              </a:solidFill>
            </a:endParaRPr>
          </a:p>
        </p:txBody>
      </p:sp>
      <p:sp>
        <p:nvSpPr>
          <p:cNvPr id="106" name="Google Shape;106;p21"/>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07" name="Google Shape;107;p21"/>
          <p:cNvSpPr txBox="1"/>
          <p:nvPr/>
        </p:nvSpPr>
        <p:spPr>
          <a:xfrm>
            <a:off x="1379346" y="4541972"/>
            <a:ext cx="7378753" cy="504673"/>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pic>
        <p:nvPicPr>
          <p:cNvPr id="108" name="Google Shape;108;p21"/>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
        <p:nvSpPr>
          <p:cNvPr id="109" name="Google Shape;109;p21"/>
          <p:cNvSpPr txBox="1"/>
          <p:nvPr/>
        </p:nvSpPr>
        <p:spPr>
          <a:xfrm>
            <a:off x="830590" y="963105"/>
            <a:ext cx="7848600" cy="3578850"/>
          </a:xfrm>
          <a:prstGeom prst="rect">
            <a:avLst/>
          </a:prstGeom>
          <a:noFill/>
          <a:ln>
            <a:noFill/>
          </a:ln>
        </p:spPr>
        <p:txBody>
          <a:bodyPr anchorCtr="0" anchor="t" bIns="91425" lIns="91425" spcFirstLastPara="1" rIns="91425" wrap="square" tIns="91425">
            <a:noAutofit/>
          </a:bodyPr>
          <a:lstStyle/>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Introduction</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Problem Statement</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Objectives</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Concepts &amp; Methods</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Literature Review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Identification of gaps &amp; scope of work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Implementation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Reference</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chemeClr val="dk1"/>
              </a:buClr>
              <a:buSzPts val="2200"/>
              <a:buFont typeface="Times New Roman"/>
              <a:buChar char="●"/>
            </a:pPr>
            <a:r>
              <a:rPr b="0" i="0" lang="en-GB" sz="2200" u="none" cap="none" strike="noStrike">
                <a:solidFill>
                  <a:schemeClr val="dk1"/>
                </a:solidFill>
                <a:latin typeface="Times New Roman"/>
                <a:ea typeface="Times New Roman"/>
                <a:cs typeface="Times New Roman"/>
                <a:sym typeface="Times New Roman"/>
              </a:rPr>
              <a:t>Q&amp;A</a:t>
            </a:r>
            <a:endParaRPr b="0" i="0" sz="22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15" name="Google Shape;115;p22"/>
          <p:cNvSpPr txBox="1"/>
          <p:nvPr/>
        </p:nvSpPr>
        <p:spPr>
          <a:xfrm>
            <a:off x="417107" y="168442"/>
            <a:ext cx="8010300" cy="433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73763"/>
                </a:solidFill>
                <a:latin typeface="Times New Roman"/>
                <a:ea typeface="Times New Roman"/>
                <a:cs typeface="Times New Roman"/>
                <a:sym typeface="Times New Roman"/>
              </a:rPr>
              <a:t>Introduction</a:t>
            </a:r>
            <a:r>
              <a:rPr b="0" i="0" lang="en-GB" sz="2200" u="none" cap="none" strike="noStrike">
                <a:solidFill>
                  <a:srgbClr val="073763"/>
                </a:solidFill>
                <a:latin typeface="Times New Roman"/>
                <a:ea typeface="Times New Roman"/>
                <a:cs typeface="Times New Roman"/>
                <a:sym typeface="Times New Roman"/>
              </a:rPr>
              <a:t> </a:t>
            </a:r>
            <a:endParaRPr b="0" i="0" sz="1400" u="none" cap="none" strike="noStrike">
              <a:solidFill>
                <a:srgbClr val="073763"/>
              </a:solidFill>
              <a:latin typeface="Arial"/>
              <a:ea typeface="Arial"/>
              <a:cs typeface="Arial"/>
              <a:sym typeface="Arial"/>
            </a:endParaRPr>
          </a:p>
        </p:txBody>
      </p:sp>
      <p:sp>
        <p:nvSpPr>
          <p:cNvPr id="116" name="Google Shape;116;p22"/>
          <p:cNvSpPr txBox="1"/>
          <p:nvPr/>
        </p:nvSpPr>
        <p:spPr>
          <a:xfrm>
            <a:off x="1379346" y="4578066"/>
            <a:ext cx="7378753" cy="504673"/>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pic>
        <p:nvPicPr>
          <p:cNvPr id="117" name="Google Shape;117;p22"/>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
        <p:nvSpPr>
          <p:cNvPr id="118" name="Google Shape;118;p22"/>
          <p:cNvSpPr txBox="1"/>
          <p:nvPr/>
        </p:nvSpPr>
        <p:spPr>
          <a:xfrm>
            <a:off x="489450" y="677822"/>
            <a:ext cx="8088900" cy="1908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Century Schoolbook"/>
                <a:ea typeface="Century Schoolbook"/>
                <a:cs typeface="Century Schoolbook"/>
                <a:sym typeface="Century Schoolbook"/>
              </a:rPr>
              <a:t>This project focuses on creating a system that uses satellite images and machine learning to detect oil spills in the ocean. Oil spills can have serious negative effects on marine life and coastal communities, and traditional methods of spotting them are often slow and require a lot of manual effort. Our approach aims to streamline the process by automating detection, which could help environmental agencies respond more quickly and effectively to these accidents. In this project, we explain how we harness remote sensing data, develop and train our machine learning model, and test the system’s accuracy in distinguishing oil spills from other similar features on the water.</a:t>
            </a:r>
            <a:endParaRPr b="0" i="0" sz="1400" u="none" cap="none" strike="noStrike">
              <a:solidFill>
                <a:srgbClr val="000000"/>
              </a:solidFill>
              <a:latin typeface="Century Schoolbook"/>
              <a:ea typeface="Century Schoolbook"/>
              <a:cs typeface="Century Schoolbook"/>
              <a:sym typeface="Century Schoolbook"/>
            </a:endParaRPr>
          </a:p>
        </p:txBody>
      </p:sp>
      <p:pic>
        <p:nvPicPr>
          <p:cNvPr descr="The Deepwater Horizon Disaster | The New Yorker" id="119" name="Google Shape;119;p22"/>
          <p:cNvPicPr preferRelativeResize="0"/>
          <p:nvPr/>
        </p:nvPicPr>
        <p:blipFill rotWithShape="1">
          <a:blip r:embed="rId4">
            <a:alphaModFix/>
          </a:blip>
          <a:srcRect b="0" l="0" r="0" t="0"/>
          <a:stretch/>
        </p:blipFill>
        <p:spPr>
          <a:xfrm>
            <a:off x="5632385" y="2230089"/>
            <a:ext cx="2729324" cy="20652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25" name="Google Shape;125;p23"/>
          <p:cNvSpPr txBox="1"/>
          <p:nvPr/>
        </p:nvSpPr>
        <p:spPr>
          <a:xfrm>
            <a:off x="528744" y="244248"/>
            <a:ext cx="8010300" cy="433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73763"/>
                </a:solidFill>
                <a:latin typeface="Times New Roman"/>
                <a:ea typeface="Times New Roman"/>
                <a:cs typeface="Times New Roman"/>
                <a:sym typeface="Times New Roman"/>
              </a:rPr>
              <a:t>Problem Statement</a:t>
            </a:r>
            <a:r>
              <a:rPr b="0" i="0" lang="en-GB" sz="2200" u="none" cap="none" strike="noStrike">
                <a:solidFill>
                  <a:srgbClr val="073763"/>
                </a:solidFill>
                <a:latin typeface="Times New Roman"/>
                <a:ea typeface="Times New Roman"/>
                <a:cs typeface="Times New Roman"/>
                <a:sym typeface="Times New Roman"/>
              </a:rPr>
              <a:t> </a:t>
            </a:r>
            <a:endParaRPr b="0" i="0" sz="1400" u="none" cap="none" strike="noStrike">
              <a:solidFill>
                <a:srgbClr val="073763"/>
              </a:solidFill>
              <a:latin typeface="Arial"/>
              <a:ea typeface="Arial"/>
              <a:cs typeface="Arial"/>
              <a:sym typeface="Arial"/>
            </a:endParaRPr>
          </a:p>
        </p:txBody>
      </p:sp>
      <p:sp>
        <p:nvSpPr>
          <p:cNvPr id="126" name="Google Shape;126;p23"/>
          <p:cNvSpPr txBox="1"/>
          <p:nvPr/>
        </p:nvSpPr>
        <p:spPr>
          <a:xfrm>
            <a:off x="1379346" y="4578066"/>
            <a:ext cx="7378800" cy="504675"/>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pic>
        <p:nvPicPr>
          <p:cNvPr id="127" name="Google Shape;127;p23"/>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
        <p:nvSpPr>
          <p:cNvPr id="128" name="Google Shape;128;p23"/>
          <p:cNvSpPr txBox="1"/>
          <p:nvPr/>
        </p:nvSpPr>
        <p:spPr>
          <a:xfrm>
            <a:off x="76496" y="691969"/>
            <a:ext cx="8610300" cy="2124000"/>
          </a:xfrm>
          <a:prstGeom prst="rect">
            <a:avLst/>
          </a:prstGeom>
          <a:noFill/>
          <a:ln>
            <a:noFill/>
          </a:ln>
        </p:spPr>
        <p:txBody>
          <a:bodyPr anchorCtr="0" anchor="t" bIns="91425" lIns="91425" spcFirstLastPara="1" rIns="91425" wrap="square" tIns="91425">
            <a:spAutoFit/>
          </a:bodyPr>
          <a:lstStyle/>
          <a:p>
            <a:pPr indent="0" lvl="0" marL="457200" marR="0" rtl="0" algn="just">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Times"/>
                <a:ea typeface="Times"/>
                <a:cs typeface="Times"/>
                <a:sym typeface="Times"/>
              </a:rPr>
              <a:t>Oil spills pose a significant environmental threat to marine ecosystems, affecting aquatic life and coastal economies. Early detection and timely response are crucial to mitigating their impact. This project aims to develop a machine learning model that classifies satellite images of water bodies as an oil spill or no spill.</a:t>
            </a:r>
            <a:endParaRPr b="0" i="0" sz="1400" u="none" cap="none" strike="noStrike">
              <a:solidFill>
                <a:srgbClr val="000000"/>
              </a:solidFill>
              <a:latin typeface="Times"/>
              <a:ea typeface="Times"/>
              <a:cs typeface="Times"/>
              <a:sym typeface="Times"/>
            </a:endParaRPr>
          </a:p>
          <a:p>
            <a:pPr indent="0" lvl="0" marL="457200" marR="0" rtl="0" algn="just">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Times"/>
                <a:ea typeface="Times"/>
                <a:cs typeface="Times"/>
                <a:sym typeface="Times"/>
              </a:rPr>
              <a:t>Environmental Threat: </a:t>
            </a:r>
            <a:r>
              <a:rPr b="0" i="0" lang="en-GB" sz="1400" u="none" cap="none" strike="noStrike">
                <a:solidFill>
                  <a:srgbClr val="000000"/>
                </a:solidFill>
                <a:latin typeface="Times"/>
                <a:ea typeface="Times"/>
                <a:cs typeface="Times"/>
                <a:sym typeface="Times"/>
              </a:rPr>
              <a:t>Oil spills pose a serious threat to marine ecosystems, affecting wildlife, water quality, and coastal communities, necessitating timely detection and mitigation.</a:t>
            </a:r>
            <a:endParaRPr b="0" i="0" sz="14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Times"/>
                <a:ea typeface="Times"/>
                <a:cs typeface="Times"/>
                <a:sym typeface="Times"/>
              </a:rPr>
              <a:t>Delayed Detection: </a:t>
            </a:r>
            <a:r>
              <a:rPr b="0" i="0" lang="en-GB" sz="1400" u="none" cap="none" strike="noStrike">
                <a:solidFill>
                  <a:srgbClr val="000000"/>
                </a:solidFill>
                <a:latin typeface="Times"/>
                <a:ea typeface="Times"/>
                <a:cs typeface="Times"/>
                <a:sym typeface="Times"/>
              </a:rPr>
              <a:t>Traditional oil spill detection methods are often slow, labor-intensive, and dependent on manual observation or limited satellite passes, leading to delayed response times.</a:t>
            </a:r>
            <a:endParaRPr b="0" i="0" sz="14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Times"/>
                <a:ea typeface="Times"/>
                <a:cs typeface="Times"/>
                <a:sym typeface="Times"/>
              </a:rPr>
              <a:t>Integration with Response Systems: </a:t>
            </a:r>
            <a:r>
              <a:rPr b="0" i="0" lang="en-GB" sz="1400" u="none" cap="none" strike="noStrike">
                <a:solidFill>
                  <a:srgbClr val="000000"/>
                </a:solidFill>
                <a:latin typeface="Times"/>
                <a:ea typeface="Times"/>
                <a:cs typeface="Times"/>
                <a:sym typeface="Times"/>
              </a:rPr>
              <a:t>There is a lack of integration between detection systems and emergency response frameworks, delaying containment and cleanup operations once a spill is identified.</a:t>
            </a:r>
            <a:endParaRPr b="0" i="0" sz="1400" u="none" cap="none" strike="noStrike">
              <a:solidFill>
                <a:srgbClr val="000000"/>
              </a:solidFill>
              <a:latin typeface="Times"/>
              <a:ea typeface="Times"/>
              <a:cs typeface="Times"/>
              <a:sym typeface="Times"/>
            </a:endParaRPr>
          </a:p>
        </p:txBody>
      </p:sp>
      <p:sp>
        <p:nvSpPr>
          <p:cNvPr id="129" name="Google Shape;129;p23"/>
          <p:cNvSpPr txBox="1"/>
          <p:nvPr/>
        </p:nvSpPr>
        <p:spPr>
          <a:xfrm>
            <a:off x="489444" y="3168393"/>
            <a:ext cx="8088900" cy="784808"/>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Times"/>
                <a:ea typeface="Times"/>
                <a:cs typeface="Times"/>
                <a:sym typeface="Times"/>
              </a:rPr>
              <a:t>The objective of this project is to develop an automated and accurate oil spill detection system using remote sensing data and machine learning techniques. It aims to enhance detection accuracy, reduce false positives, and support timely response efforts to minimize environmental impact and protect marine and coastal ecosystems.</a:t>
            </a:r>
            <a:endParaRPr b="0" i="0" sz="1400" u="none" cap="none" strike="noStrike">
              <a:solidFill>
                <a:srgbClr val="000000"/>
              </a:solidFill>
              <a:latin typeface="Times"/>
              <a:ea typeface="Times"/>
              <a:cs typeface="Times"/>
              <a:sym typeface="Times"/>
            </a:endParaRPr>
          </a:p>
        </p:txBody>
      </p:sp>
      <p:sp>
        <p:nvSpPr>
          <p:cNvPr id="130" name="Google Shape;130;p23"/>
          <p:cNvSpPr txBox="1"/>
          <p:nvPr/>
        </p:nvSpPr>
        <p:spPr>
          <a:xfrm>
            <a:off x="528744" y="2734721"/>
            <a:ext cx="8010300" cy="433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73763"/>
                </a:solidFill>
                <a:latin typeface="Times New Roman"/>
                <a:ea typeface="Times New Roman"/>
                <a:cs typeface="Times New Roman"/>
                <a:sym typeface="Times New Roman"/>
              </a:rPr>
              <a:t>Objectives</a:t>
            </a:r>
            <a:r>
              <a:rPr b="0" i="0" lang="en-GB" sz="2200" u="none" cap="none" strike="noStrike">
                <a:solidFill>
                  <a:srgbClr val="073763"/>
                </a:solidFill>
                <a:latin typeface="Times New Roman"/>
                <a:ea typeface="Times New Roman"/>
                <a:cs typeface="Times New Roman"/>
                <a:sym typeface="Times New Roman"/>
              </a:rPr>
              <a:t> </a:t>
            </a:r>
            <a:endParaRPr b="0" i="0" sz="1400" u="none" cap="none" strike="noStrike">
              <a:solidFill>
                <a:srgbClr val="07376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36" name="Google Shape;136;p24"/>
          <p:cNvSpPr txBox="1"/>
          <p:nvPr/>
        </p:nvSpPr>
        <p:spPr>
          <a:xfrm>
            <a:off x="417094" y="102870"/>
            <a:ext cx="8010300" cy="433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C00000"/>
                </a:solidFill>
                <a:latin typeface="Times New Roman"/>
                <a:ea typeface="Times New Roman"/>
                <a:cs typeface="Times New Roman"/>
                <a:sym typeface="Times New Roman"/>
              </a:rPr>
              <a:t>Concepts and Methods</a:t>
            </a:r>
            <a:r>
              <a:rPr b="0" i="0" lang="en-GB" sz="2200" u="none" cap="none" strike="noStrike">
                <a:solidFill>
                  <a:srgbClr val="C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137" name="Google Shape;137;p24"/>
          <p:cNvSpPr txBox="1"/>
          <p:nvPr/>
        </p:nvSpPr>
        <p:spPr>
          <a:xfrm>
            <a:off x="1379346" y="4578066"/>
            <a:ext cx="7378753" cy="504673"/>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pic>
        <p:nvPicPr>
          <p:cNvPr id="138" name="Google Shape;138;p24"/>
          <p:cNvPicPr preferRelativeResize="0"/>
          <p:nvPr/>
        </p:nvPicPr>
        <p:blipFill rotWithShape="1">
          <a:blip r:embed="rId3">
            <a:alphaModFix/>
          </a:blip>
          <a:srcRect b="0" l="0" r="0" t="0"/>
          <a:stretch/>
        </p:blipFill>
        <p:spPr>
          <a:xfrm>
            <a:off x="0" y="4359725"/>
            <a:ext cx="999854" cy="765338"/>
          </a:xfrm>
          <a:prstGeom prst="rect">
            <a:avLst/>
          </a:prstGeom>
          <a:noFill/>
          <a:ln>
            <a:noFill/>
          </a:ln>
        </p:spPr>
      </p:pic>
      <p:pic>
        <p:nvPicPr>
          <p:cNvPr id="139" name="Google Shape;139;p24"/>
          <p:cNvPicPr preferRelativeResize="0"/>
          <p:nvPr/>
        </p:nvPicPr>
        <p:blipFill rotWithShape="1">
          <a:blip r:embed="rId4">
            <a:alphaModFix/>
          </a:blip>
          <a:srcRect b="0" l="0" r="0" t="0"/>
          <a:stretch/>
        </p:blipFill>
        <p:spPr>
          <a:xfrm>
            <a:off x="6042385" y="567813"/>
            <a:ext cx="2880770" cy="3231368"/>
          </a:xfrm>
          <a:prstGeom prst="rect">
            <a:avLst/>
          </a:prstGeom>
          <a:noFill/>
          <a:ln>
            <a:noFill/>
          </a:ln>
        </p:spPr>
      </p:pic>
      <p:sp>
        <p:nvSpPr>
          <p:cNvPr id="140" name="Google Shape;140;p24"/>
          <p:cNvSpPr txBox="1"/>
          <p:nvPr/>
        </p:nvSpPr>
        <p:spPr>
          <a:xfrm>
            <a:off x="417094" y="638107"/>
            <a:ext cx="4813272" cy="29777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Times New Roman"/>
                <a:ea typeface="Times New Roman"/>
                <a:cs typeface="Times New Roman"/>
                <a:sym typeface="Times New Roman"/>
              </a:rPr>
              <a:t>1) </a:t>
            </a:r>
            <a:r>
              <a:rPr b="0" i="0" lang="en-GB" sz="1400" u="none" cap="none" strike="noStrike">
                <a:solidFill>
                  <a:srgbClr val="000000"/>
                </a:solidFill>
                <a:latin typeface="Times New Roman"/>
                <a:ea typeface="Times New Roman"/>
                <a:cs typeface="Times New Roman"/>
                <a:sym typeface="Times New Roman"/>
              </a:rPr>
              <a:t>Satellite Imagery: Captures high resolution images of the ocean surface to detect and monitor oil spill patterns and spread.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Times New Roman"/>
                <a:ea typeface="Times New Roman"/>
                <a:cs typeface="Times New Roman"/>
                <a:sym typeface="Times New Roman"/>
              </a:rPr>
              <a:t>2) </a:t>
            </a:r>
            <a:r>
              <a:rPr b="0" i="0" lang="en-GB" sz="1400" u="none" cap="none" strike="noStrike">
                <a:solidFill>
                  <a:srgbClr val="000000"/>
                </a:solidFill>
                <a:latin typeface="Times New Roman"/>
                <a:ea typeface="Times New Roman"/>
                <a:cs typeface="Times New Roman"/>
                <a:sym typeface="Times New Roman"/>
              </a:rPr>
              <a:t>Remote Sensing: Utilizes various sensors on satellites to analyze the oil's spectral signature and differentiate it from water.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Times New Roman"/>
                <a:ea typeface="Times New Roman"/>
                <a:cs typeface="Times New Roman"/>
                <a:sym typeface="Times New Roman"/>
              </a:rPr>
              <a:t>3) </a:t>
            </a:r>
            <a:r>
              <a:rPr b="0" i="0" lang="en-GB" sz="1400" u="none" cap="none" strike="noStrike">
                <a:solidFill>
                  <a:srgbClr val="000000"/>
                </a:solidFill>
                <a:latin typeface="Times New Roman"/>
                <a:ea typeface="Times New Roman"/>
                <a:cs typeface="Times New Roman"/>
                <a:sym typeface="Times New Roman"/>
              </a:rPr>
              <a:t>Data Analytics: Applies algorithms and machine learning to interpret oil spill data and satellite images, improving spill detection accuracy.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Times New Roman"/>
                <a:ea typeface="Times New Roman"/>
                <a:cs typeface="Times New Roman"/>
                <a:sym typeface="Times New Roman"/>
              </a:rPr>
              <a:t>4) </a:t>
            </a:r>
            <a:r>
              <a:rPr b="0" i="0" lang="en-GB" sz="1400" u="none" cap="none" strike="noStrike">
                <a:solidFill>
                  <a:srgbClr val="000000"/>
                </a:solidFill>
                <a:latin typeface="Times New Roman"/>
                <a:ea typeface="Times New Roman"/>
                <a:cs typeface="Times New Roman"/>
                <a:sym typeface="Times New Roman"/>
              </a:rPr>
              <a:t>Aerial Surveillance (Drones and Aircraft):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Times New Roman"/>
                <a:ea typeface="Times New Roman"/>
                <a:cs typeface="Times New Roman"/>
                <a:sym typeface="Times New Roman"/>
              </a:rPr>
              <a:t>Captures high-resolution images or videos to visually detect and monitor oil spills, especially in remote areas.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41" name="Google Shape;141;p24"/>
          <p:cNvPicPr preferRelativeResize="0"/>
          <p:nvPr/>
        </p:nvPicPr>
        <p:blipFill rotWithShape="1">
          <a:blip r:embed="rId5">
            <a:alphaModFix/>
          </a:blip>
          <a:srcRect b="0" l="0" r="0" t="0"/>
          <a:stretch/>
        </p:blipFill>
        <p:spPr>
          <a:xfrm>
            <a:off x="326587" y="3055756"/>
            <a:ext cx="4286849" cy="91452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47" name="Google Shape;147;p25"/>
          <p:cNvSpPr txBox="1"/>
          <p:nvPr/>
        </p:nvSpPr>
        <p:spPr>
          <a:xfrm>
            <a:off x="417094" y="102870"/>
            <a:ext cx="8010300" cy="433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GB" sz="3000" u="none" cap="none" strike="noStrike">
                <a:solidFill>
                  <a:srgbClr val="C00000"/>
                </a:solidFill>
                <a:latin typeface="Times New Roman"/>
                <a:ea typeface="Times New Roman"/>
                <a:cs typeface="Times New Roman"/>
                <a:sym typeface="Times New Roman"/>
              </a:rPr>
              <a:t>Modules Proposed in Project Phase I</a:t>
            </a:r>
            <a:endParaRPr b="0" i="0" sz="1600" u="none" cap="none" strike="noStrike">
              <a:solidFill>
                <a:srgbClr val="000000"/>
              </a:solidFill>
              <a:latin typeface="Arial"/>
              <a:ea typeface="Arial"/>
              <a:cs typeface="Arial"/>
              <a:sym typeface="Arial"/>
            </a:endParaRPr>
          </a:p>
        </p:txBody>
      </p:sp>
      <p:sp>
        <p:nvSpPr>
          <p:cNvPr id="148" name="Google Shape;148;p25"/>
          <p:cNvSpPr txBox="1"/>
          <p:nvPr/>
        </p:nvSpPr>
        <p:spPr>
          <a:xfrm>
            <a:off x="1379346" y="4578066"/>
            <a:ext cx="7378800" cy="5046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pic>
        <p:nvPicPr>
          <p:cNvPr id="149" name="Google Shape;149;p25"/>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
        <p:nvSpPr>
          <p:cNvPr id="150" name="Google Shape;150;p25"/>
          <p:cNvSpPr txBox="1"/>
          <p:nvPr/>
        </p:nvSpPr>
        <p:spPr>
          <a:xfrm>
            <a:off x="417100" y="638100"/>
            <a:ext cx="7590900" cy="3694200"/>
          </a:xfrm>
          <a:prstGeom prst="rect">
            <a:avLst/>
          </a:prstGeom>
          <a:noFill/>
          <a:ln>
            <a:noFill/>
          </a:ln>
        </p:spPr>
        <p:txBody>
          <a:bodyPr anchorCtr="0" anchor="t" bIns="45700" lIns="91425" spcFirstLastPara="1" rIns="91425" wrap="square" tIns="45700">
            <a:spAutoFit/>
          </a:bodyPr>
          <a:lstStyle/>
          <a:p>
            <a:pPr indent="-393700" lvl="0" marL="457200" marR="0" rtl="0" algn="l">
              <a:lnSpc>
                <a:spcPct val="100000"/>
              </a:lnSpc>
              <a:spcBef>
                <a:spcPts val="1200"/>
              </a:spcBef>
              <a:spcAft>
                <a:spcPts val="0"/>
              </a:spcAft>
              <a:buClr>
                <a:srgbClr val="000000"/>
              </a:buClr>
              <a:buSzPts val="2600"/>
              <a:buFont typeface="Times New Roman"/>
              <a:buChar char="●"/>
            </a:pPr>
            <a:r>
              <a:rPr b="0" i="0" lang="en-GB" sz="2600" u="none" cap="none" strike="noStrike">
                <a:solidFill>
                  <a:srgbClr val="000000"/>
                </a:solidFill>
                <a:latin typeface="Times New Roman"/>
                <a:ea typeface="Times New Roman"/>
                <a:cs typeface="Times New Roman"/>
                <a:sym typeface="Times New Roman"/>
              </a:rPr>
              <a:t>Data collection using satellite or drone images</a:t>
            </a:r>
            <a:endParaRPr b="0" i="0" sz="26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rgbClr val="000000"/>
              </a:buClr>
              <a:buSzPts val="2600"/>
              <a:buFont typeface="Times New Roman"/>
              <a:buChar char="●"/>
            </a:pPr>
            <a:r>
              <a:rPr b="0" i="0" lang="en-GB" sz="2600" u="none" cap="none" strike="noStrike">
                <a:solidFill>
                  <a:srgbClr val="000000"/>
                </a:solidFill>
                <a:latin typeface="Times New Roman"/>
                <a:ea typeface="Times New Roman"/>
                <a:cs typeface="Times New Roman"/>
                <a:sym typeface="Times New Roman"/>
              </a:rPr>
              <a:t>Design and train a machine learning/deep learning model</a:t>
            </a:r>
            <a:endParaRPr b="0" i="0" sz="26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rgbClr val="000000"/>
              </a:buClr>
              <a:buSzPts val="2600"/>
              <a:buFont typeface="Times New Roman"/>
              <a:buChar char="●"/>
            </a:pPr>
            <a:r>
              <a:rPr b="0" i="0" lang="en-GB" sz="2600" u="none" cap="none" strike="noStrike">
                <a:solidFill>
                  <a:srgbClr val="000000"/>
                </a:solidFill>
                <a:latin typeface="Times New Roman"/>
                <a:ea typeface="Times New Roman"/>
                <a:cs typeface="Times New Roman"/>
                <a:sym typeface="Times New Roman"/>
              </a:rPr>
              <a:t>Evaluate model accuracy using key performance metrics</a:t>
            </a:r>
            <a:endParaRPr b="0" i="0" sz="26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rgbClr val="000000"/>
              </a:buClr>
              <a:buSzPts val="2600"/>
              <a:buFont typeface="Times New Roman"/>
              <a:buChar char="●"/>
            </a:pPr>
            <a:r>
              <a:rPr b="0" i="0" lang="en-GB" sz="2600" u="none" cap="none" strike="noStrike">
                <a:solidFill>
                  <a:srgbClr val="000000"/>
                </a:solidFill>
                <a:latin typeface="Times New Roman"/>
                <a:ea typeface="Times New Roman"/>
                <a:cs typeface="Times New Roman"/>
                <a:sym typeface="Times New Roman"/>
              </a:rPr>
              <a:t>Comparative analysis of different detection algorithms</a:t>
            </a:r>
            <a:endParaRPr b="0" i="0" sz="26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rgbClr val="000000"/>
              </a:buClr>
              <a:buSzPts val="2600"/>
              <a:buFont typeface="Times New Roman"/>
              <a:buChar char="●"/>
            </a:pPr>
            <a:r>
              <a:rPr b="0" i="0" lang="en-GB" sz="2600" u="none" cap="none" strike="noStrike">
                <a:solidFill>
                  <a:srgbClr val="000000"/>
                </a:solidFill>
                <a:latin typeface="Times New Roman"/>
                <a:ea typeface="Times New Roman"/>
                <a:cs typeface="Times New Roman"/>
                <a:sym typeface="Times New Roman"/>
              </a:rPr>
              <a:t>Investigate model's ability for large-scale deployment</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56" name="Google Shape;156;p26"/>
          <p:cNvSpPr txBox="1"/>
          <p:nvPr/>
        </p:nvSpPr>
        <p:spPr>
          <a:xfrm>
            <a:off x="417094" y="102870"/>
            <a:ext cx="8010300" cy="433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GB" sz="3000" u="none" cap="none" strike="noStrike">
                <a:solidFill>
                  <a:srgbClr val="C00000"/>
                </a:solidFill>
                <a:latin typeface="Times New Roman"/>
                <a:ea typeface="Times New Roman"/>
                <a:cs typeface="Times New Roman"/>
                <a:sym typeface="Times New Roman"/>
              </a:rPr>
              <a:t>Status of modules completed in Phase I</a:t>
            </a:r>
            <a:endParaRPr b="0" i="0" sz="1600" u="none" cap="none" strike="noStrike">
              <a:solidFill>
                <a:srgbClr val="000000"/>
              </a:solidFill>
              <a:latin typeface="Arial"/>
              <a:ea typeface="Arial"/>
              <a:cs typeface="Arial"/>
              <a:sym typeface="Arial"/>
            </a:endParaRPr>
          </a:p>
        </p:txBody>
      </p:sp>
      <p:sp>
        <p:nvSpPr>
          <p:cNvPr id="157" name="Google Shape;157;p26"/>
          <p:cNvSpPr txBox="1"/>
          <p:nvPr/>
        </p:nvSpPr>
        <p:spPr>
          <a:xfrm>
            <a:off x="1379346" y="4578066"/>
            <a:ext cx="7378800" cy="5046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pic>
        <p:nvPicPr>
          <p:cNvPr id="158" name="Google Shape;158;p26"/>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
        <p:nvSpPr>
          <p:cNvPr id="159" name="Google Shape;159;p26"/>
          <p:cNvSpPr txBox="1"/>
          <p:nvPr/>
        </p:nvSpPr>
        <p:spPr>
          <a:xfrm>
            <a:off x="417100" y="638100"/>
            <a:ext cx="7590900" cy="4017300"/>
          </a:xfrm>
          <a:prstGeom prst="rect">
            <a:avLst/>
          </a:prstGeom>
          <a:noFill/>
          <a:ln>
            <a:noFill/>
          </a:ln>
        </p:spPr>
        <p:txBody>
          <a:bodyPr anchorCtr="0" anchor="t" bIns="45700" lIns="91425" spcFirstLastPara="1" rIns="91425" wrap="square" tIns="45700">
            <a:spAutoFit/>
          </a:bodyPr>
          <a:lstStyle/>
          <a:p>
            <a:pPr indent="-374650" lvl="0" marL="457200" marR="0" rtl="0" algn="l">
              <a:lnSpc>
                <a:spcPct val="100000"/>
              </a:lnSpc>
              <a:spcBef>
                <a:spcPts val="1200"/>
              </a:spcBef>
              <a:spcAft>
                <a:spcPts val="0"/>
              </a:spcAft>
              <a:buClr>
                <a:schemeClr val="dk1"/>
              </a:buClr>
              <a:buSzPts val="2300"/>
              <a:buFont typeface="Century Schoolbook"/>
              <a:buChar char="●"/>
            </a:pPr>
            <a:r>
              <a:rPr b="0" i="0" lang="en-GB" sz="2300" u="none" cap="none" strike="noStrike">
                <a:solidFill>
                  <a:schemeClr val="dk1"/>
                </a:solidFill>
                <a:latin typeface="Century Schoolbook"/>
                <a:ea typeface="Century Schoolbook"/>
                <a:cs typeface="Century Schoolbook"/>
                <a:sym typeface="Century Schoolbook"/>
              </a:rPr>
              <a:t>Completed data collection using satellite and drone images.</a:t>
            </a:r>
            <a:endParaRPr b="0" i="0" sz="2300" u="none" cap="none" strike="noStrike">
              <a:solidFill>
                <a:schemeClr val="dk1"/>
              </a:solidFill>
              <a:latin typeface="Century Schoolbook"/>
              <a:ea typeface="Century Schoolbook"/>
              <a:cs typeface="Century Schoolbook"/>
              <a:sym typeface="Century Schoolbook"/>
            </a:endParaRPr>
          </a:p>
          <a:p>
            <a:pPr indent="-374650" lvl="0" marL="457200" marR="0" rtl="0" algn="l">
              <a:lnSpc>
                <a:spcPct val="100000"/>
              </a:lnSpc>
              <a:spcBef>
                <a:spcPts val="0"/>
              </a:spcBef>
              <a:spcAft>
                <a:spcPts val="0"/>
              </a:spcAft>
              <a:buClr>
                <a:schemeClr val="dk1"/>
              </a:buClr>
              <a:buSzPts val="2300"/>
              <a:buFont typeface="Century Schoolbook"/>
              <a:buChar char="●"/>
            </a:pPr>
            <a:r>
              <a:rPr b="0" i="0" lang="en-GB" sz="2300" u="none" cap="none" strike="noStrike">
                <a:solidFill>
                  <a:schemeClr val="dk1"/>
                </a:solidFill>
                <a:latin typeface="Century Schoolbook"/>
                <a:ea typeface="Century Schoolbook"/>
                <a:cs typeface="Century Schoolbook"/>
                <a:sym typeface="Century Schoolbook"/>
              </a:rPr>
              <a:t>Designed and successfully trained the machine learning model.</a:t>
            </a:r>
            <a:endParaRPr b="0" i="0" sz="2300" u="none" cap="none" strike="noStrike">
              <a:solidFill>
                <a:schemeClr val="dk1"/>
              </a:solidFill>
              <a:latin typeface="Century Schoolbook"/>
              <a:ea typeface="Century Schoolbook"/>
              <a:cs typeface="Century Schoolbook"/>
              <a:sym typeface="Century Schoolbook"/>
            </a:endParaRPr>
          </a:p>
          <a:p>
            <a:pPr indent="-374650" lvl="0" marL="457200" marR="0" rtl="0" algn="l">
              <a:lnSpc>
                <a:spcPct val="100000"/>
              </a:lnSpc>
              <a:spcBef>
                <a:spcPts val="0"/>
              </a:spcBef>
              <a:spcAft>
                <a:spcPts val="0"/>
              </a:spcAft>
              <a:buClr>
                <a:schemeClr val="dk1"/>
              </a:buClr>
              <a:buSzPts val="2300"/>
              <a:buFont typeface="Century Schoolbook"/>
              <a:buChar char="●"/>
            </a:pPr>
            <a:r>
              <a:rPr b="0" i="0" lang="en-GB" sz="2300" u="none" cap="none" strike="noStrike">
                <a:solidFill>
                  <a:schemeClr val="dk1"/>
                </a:solidFill>
                <a:latin typeface="Century Schoolbook"/>
                <a:ea typeface="Century Schoolbook"/>
                <a:cs typeface="Century Schoolbook"/>
                <a:sym typeface="Century Schoolbook"/>
              </a:rPr>
              <a:t>Model accuracy was evaluated using key performance metrics.</a:t>
            </a:r>
            <a:endParaRPr b="0" i="0" sz="2300" u="none" cap="none" strike="noStrike">
              <a:solidFill>
                <a:schemeClr val="dk1"/>
              </a:solidFill>
              <a:latin typeface="Century Schoolbook"/>
              <a:ea typeface="Century Schoolbook"/>
              <a:cs typeface="Century Schoolbook"/>
              <a:sym typeface="Century Schoolbook"/>
            </a:endParaRPr>
          </a:p>
          <a:p>
            <a:pPr indent="-374650" lvl="0" marL="457200" marR="0" rtl="0" algn="l">
              <a:lnSpc>
                <a:spcPct val="100000"/>
              </a:lnSpc>
              <a:spcBef>
                <a:spcPts val="0"/>
              </a:spcBef>
              <a:spcAft>
                <a:spcPts val="0"/>
              </a:spcAft>
              <a:buClr>
                <a:schemeClr val="dk1"/>
              </a:buClr>
              <a:buSzPts val="2300"/>
              <a:buFont typeface="Century Schoolbook"/>
              <a:buChar char="●"/>
            </a:pPr>
            <a:r>
              <a:rPr b="0" i="0" lang="en-GB" sz="2300" u="none" cap="none" strike="noStrike">
                <a:solidFill>
                  <a:schemeClr val="dk1"/>
                </a:solidFill>
                <a:latin typeface="Century Schoolbook"/>
                <a:ea typeface="Century Schoolbook"/>
                <a:cs typeface="Century Schoolbook"/>
                <a:sym typeface="Century Schoolbook"/>
              </a:rPr>
              <a:t>Performed a comparative analysis of different detection algorithms.</a:t>
            </a:r>
            <a:endParaRPr b="0" i="0" sz="2300" u="none" cap="none" strike="noStrike">
              <a:solidFill>
                <a:schemeClr val="dk1"/>
              </a:solidFill>
              <a:latin typeface="Century Schoolbook"/>
              <a:ea typeface="Century Schoolbook"/>
              <a:cs typeface="Century Schoolbook"/>
              <a:sym typeface="Century Schoolbook"/>
            </a:endParaRPr>
          </a:p>
          <a:p>
            <a:pPr indent="-374650" lvl="0" marL="457200" marR="0" rtl="0" algn="l">
              <a:lnSpc>
                <a:spcPct val="100000"/>
              </a:lnSpc>
              <a:spcBef>
                <a:spcPts val="0"/>
              </a:spcBef>
              <a:spcAft>
                <a:spcPts val="0"/>
              </a:spcAft>
              <a:buClr>
                <a:schemeClr val="dk1"/>
              </a:buClr>
              <a:buSzPts val="2300"/>
              <a:buFont typeface="Century Schoolbook"/>
              <a:buChar char="●"/>
            </a:pPr>
            <a:r>
              <a:rPr b="0" i="0" lang="en-GB" sz="2300" u="none" cap="none" strike="noStrike">
                <a:solidFill>
                  <a:schemeClr val="dk1"/>
                </a:solidFill>
                <a:latin typeface="Century Schoolbook"/>
                <a:ea typeface="Century Schoolbook"/>
                <a:cs typeface="Century Schoolbook"/>
                <a:sym typeface="Century Schoolbook"/>
              </a:rPr>
              <a:t>Investigated the model's ability for large-scale deployment.</a:t>
            </a:r>
            <a:endParaRPr b="0" i="0" sz="2300" u="none" cap="none" strike="noStrike">
              <a:solidFill>
                <a:schemeClr val="dk1"/>
              </a:solidFill>
              <a:latin typeface="Century Schoolbook"/>
              <a:ea typeface="Century Schoolbook"/>
              <a:cs typeface="Century Schoolbook"/>
              <a:sym typeface="Century Schoolbook"/>
            </a:endParaRPr>
          </a:p>
          <a:p>
            <a:pPr indent="-387350" lvl="0" marL="457200" marR="0" rtl="0" algn="l">
              <a:lnSpc>
                <a:spcPct val="100000"/>
              </a:lnSpc>
              <a:spcBef>
                <a:spcPts val="0"/>
              </a:spcBef>
              <a:spcAft>
                <a:spcPts val="0"/>
              </a:spcAft>
              <a:buClr>
                <a:srgbClr val="000000"/>
              </a:buClr>
              <a:buSzPts val="2500"/>
              <a:buFont typeface="Times New Roman"/>
              <a:buChar char="●"/>
            </a:pPr>
            <a:r>
              <a:t/>
            </a:r>
            <a:endParaRPr b="0" i="0" sz="2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65" name="Google Shape;165;p27"/>
          <p:cNvSpPr txBox="1"/>
          <p:nvPr/>
        </p:nvSpPr>
        <p:spPr>
          <a:xfrm>
            <a:off x="417094" y="102870"/>
            <a:ext cx="8010300" cy="433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GB" sz="3000" u="none" cap="none" strike="noStrike">
                <a:solidFill>
                  <a:srgbClr val="C00000"/>
                </a:solidFill>
                <a:latin typeface="Times New Roman"/>
                <a:ea typeface="Times New Roman"/>
                <a:cs typeface="Times New Roman"/>
                <a:sym typeface="Times New Roman"/>
              </a:rPr>
              <a:t>Modules Proposed for Project Phase II</a:t>
            </a:r>
            <a:endParaRPr b="0" i="0" sz="1600" u="none" cap="none" strike="noStrike">
              <a:solidFill>
                <a:srgbClr val="000000"/>
              </a:solidFill>
              <a:latin typeface="Arial"/>
              <a:ea typeface="Arial"/>
              <a:cs typeface="Arial"/>
              <a:sym typeface="Arial"/>
            </a:endParaRPr>
          </a:p>
        </p:txBody>
      </p:sp>
      <p:sp>
        <p:nvSpPr>
          <p:cNvPr id="166" name="Google Shape;166;p27"/>
          <p:cNvSpPr txBox="1"/>
          <p:nvPr/>
        </p:nvSpPr>
        <p:spPr>
          <a:xfrm>
            <a:off x="1379346" y="4578066"/>
            <a:ext cx="7378800" cy="5046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pic>
        <p:nvPicPr>
          <p:cNvPr id="167" name="Google Shape;167;p27"/>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
        <p:nvSpPr>
          <p:cNvPr id="168" name="Google Shape;168;p27"/>
          <p:cNvSpPr txBox="1"/>
          <p:nvPr/>
        </p:nvSpPr>
        <p:spPr>
          <a:xfrm>
            <a:off x="417100" y="882113"/>
            <a:ext cx="7590900" cy="35556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120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Investigate the use of high-resolution SAR satellite images</a:t>
            </a:r>
            <a:endParaRPr b="0" i="0" sz="2400" u="none" cap="none" strike="noStrike">
              <a:solidFill>
                <a:schemeClr val="dk1"/>
              </a:solidFill>
              <a:latin typeface="Century Schoolbook"/>
              <a:ea typeface="Century Schoolbook"/>
              <a:cs typeface="Century Schoolbook"/>
              <a:sym typeface="Century Schoolbook"/>
            </a:endParaRPr>
          </a:p>
          <a:p>
            <a:pPr indent="-381000" lvl="0" marL="457200" marR="0" rtl="0" algn="l">
              <a:lnSpc>
                <a:spcPct val="100000"/>
              </a:lnSpc>
              <a:spcBef>
                <a:spcPts val="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Integrate the model with real-time marine response systems</a:t>
            </a:r>
            <a:endParaRPr b="0" i="0" sz="2400" u="none" cap="none" strike="noStrike">
              <a:solidFill>
                <a:schemeClr val="dk1"/>
              </a:solidFill>
              <a:latin typeface="Century Schoolbook"/>
              <a:ea typeface="Century Schoolbook"/>
              <a:cs typeface="Century Schoolbook"/>
              <a:sym typeface="Century Schoolbook"/>
            </a:endParaRPr>
          </a:p>
          <a:p>
            <a:pPr indent="-381000" lvl="0" marL="457200" marR="0" rtl="0" algn="l">
              <a:lnSpc>
                <a:spcPct val="100000"/>
              </a:lnSpc>
              <a:spcBef>
                <a:spcPts val="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Develop enhanced algorithms to reduce false positive detections</a:t>
            </a:r>
            <a:endParaRPr b="0" i="0" sz="2400" u="none" cap="none" strike="noStrike">
              <a:solidFill>
                <a:schemeClr val="dk1"/>
              </a:solidFill>
              <a:latin typeface="Century Schoolbook"/>
              <a:ea typeface="Century Schoolbook"/>
              <a:cs typeface="Century Schoolbook"/>
              <a:sym typeface="Century Schoolbook"/>
            </a:endParaRPr>
          </a:p>
          <a:p>
            <a:pPr indent="-381000" lvl="0" marL="457200" marR="0" rtl="0" algn="l">
              <a:lnSpc>
                <a:spcPct val="100000"/>
              </a:lnSpc>
              <a:spcBef>
                <a:spcPts val="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Explore deep learning techniques for better oil spill segmentation</a:t>
            </a:r>
            <a:endParaRPr b="0" i="0" sz="2400" u="none" cap="none" strike="noStrike">
              <a:solidFill>
                <a:schemeClr val="dk1"/>
              </a:solidFill>
              <a:latin typeface="Century Schoolbook"/>
              <a:ea typeface="Century Schoolbook"/>
              <a:cs typeface="Century Schoolbook"/>
              <a:sym typeface="Century Schoolbook"/>
            </a:endParaRPr>
          </a:p>
          <a:p>
            <a:pPr indent="0" lvl="0" marL="457200" marR="0" rtl="0" algn="l">
              <a:lnSpc>
                <a:spcPct val="100000"/>
              </a:lnSpc>
              <a:spcBef>
                <a:spcPts val="1200"/>
              </a:spcBef>
              <a:spcAft>
                <a:spcPts val="1200"/>
              </a:spcAft>
              <a:buClr>
                <a:srgbClr val="000000"/>
              </a:buClr>
              <a:buSzPts val="2300"/>
              <a:buFont typeface="Arial"/>
              <a:buNone/>
            </a:pPr>
            <a:r>
              <a:t/>
            </a:r>
            <a:endParaRPr b="0" i="0" sz="2300" u="none" cap="none" strike="noStrike">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74" name="Google Shape;174;p28"/>
          <p:cNvSpPr txBox="1"/>
          <p:nvPr/>
        </p:nvSpPr>
        <p:spPr>
          <a:xfrm>
            <a:off x="1379346" y="4578066"/>
            <a:ext cx="7378753" cy="504673"/>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pic>
        <p:nvPicPr>
          <p:cNvPr id="175" name="Google Shape;175;p28"/>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
        <p:nvSpPr>
          <p:cNvPr id="176" name="Google Shape;176;p28"/>
          <p:cNvSpPr txBox="1"/>
          <p:nvPr/>
        </p:nvSpPr>
        <p:spPr>
          <a:xfrm>
            <a:off x="252900" y="494336"/>
            <a:ext cx="8638200" cy="3657335"/>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120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Gather and preprocess satellite and drone images</a:t>
            </a:r>
            <a:endParaRPr b="0" i="0" sz="2400" u="none" cap="none" strike="noStrike">
              <a:solidFill>
                <a:schemeClr val="dk1"/>
              </a:solidFill>
              <a:latin typeface="Century Schoolbook"/>
              <a:ea typeface="Century Schoolbook"/>
              <a:cs typeface="Century Schoolbook"/>
              <a:sym typeface="Century Schoolbook"/>
            </a:endParaRPr>
          </a:p>
          <a:p>
            <a:pPr indent="-381000" lvl="0" marL="457200" marR="0" rtl="0" algn="l">
              <a:lnSpc>
                <a:spcPct val="100000"/>
              </a:lnSpc>
              <a:spcBef>
                <a:spcPts val="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Design and train a machine learning/deep learning model</a:t>
            </a:r>
            <a:endParaRPr b="0" i="0" sz="2400" u="none" cap="none" strike="noStrike">
              <a:solidFill>
                <a:schemeClr val="dk1"/>
              </a:solidFill>
              <a:latin typeface="Century Schoolbook"/>
              <a:ea typeface="Century Schoolbook"/>
              <a:cs typeface="Century Schoolbook"/>
              <a:sym typeface="Century Schoolbook"/>
            </a:endParaRPr>
          </a:p>
          <a:p>
            <a:pPr indent="-381000" lvl="0" marL="457200" marR="0" rtl="0" algn="l">
              <a:lnSpc>
                <a:spcPct val="100000"/>
              </a:lnSpc>
              <a:spcBef>
                <a:spcPts val="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Evaluate model accuracy using key performance metrics</a:t>
            </a:r>
            <a:endParaRPr b="0" i="0" sz="2400" u="none" cap="none" strike="noStrike">
              <a:solidFill>
                <a:schemeClr val="dk1"/>
              </a:solidFill>
              <a:latin typeface="Century Schoolbook"/>
              <a:ea typeface="Century Schoolbook"/>
              <a:cs typeface="Century Schoolbook"/>
              <a:sym typeface="Century Schoolbook"/>
            </a:endParaRPr>
          </a:p>
          <a:p>
            <a:pPr indent="-381000" lvl="0" marL="457200" marR="0" rtl="0" algn="l">
              <a:lnSpc>
                <a:spcPct val="100000"/>
              </a:lnSpc>
              <a:spcBef>
                <a:spcPts val="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Compare different detection algorithms to find the best fit</a:t>
            </a:r>
            <a:endParaRPr b="0" i="0" sz="2400" u="none" cap="none" strike="noStrike">
              <a:solidFill>
                <a:schemeClr val="dk1"/>
              </a:solidFill>
              <a:latin typeface="Century Schoolbook"/>
              <a:ea typeface="Century Schoolbook"/>
              <a:cs typeface="Century Schoolbook"/>
              <a:sym typeface="Century Schoolbook"/>
            </a:endParaRPr>
          </a:p>
          <a:p>
            <a:pPr indent="-381000" lvl="0" marL="457200" marR="0" rtl="0" algn="l">
              <a:lnSpc>
                <a:spcPct val="100000"/>
              </a:lnSpc>
              <a:spcBef>
                <a:spcPts val="0"/>
              </a:spcBef>
              <a:spcAft>
                <a:spcPts val="0"/>
              </a:spcAft>
              <a:buClr>
                <a:schemeClr val="dk1"/>
              </a:buClr>
              <a:buSzPts val="2400"/>
              <a:buFont typeface="Century Schoolbook"/>
              <a:buChar char="●"/>
            </a:pPr>
            <a:r>
              <a:rPr b="0" i="0" lang="en-GB" sz="2400" u="none" cap="none" strike="noStrike">
                <a:solidFill>
                  <a:schemeClr val="dk1"/>
                </a:solidFill>
                <a:latin typeface="Century Schoolbook"/>
                <a:ea typeface="Century Schoolbook"/>
                <a:cs typeface="Century Schoolbook"/>
                <a:sym typeface="Century Schoolbook"/>
              </a:rPr>
              <a:t>Investigate model's ability for large-scale deployment</a:t>
            </a:r>
            <a:endParaRPr b="0" i="0" sz="2400" u="none" cap="none" strike="noStrike">
              <a:solidFill>
                <a:schemeClr val="dk1"/>
              </a:solidFill>
              <a:latin typeface="Century Schoolbook"/>
              <a:ea typeface="Century Schoolbook"/>
              <a:cs typeface="Century Schoolbook"/>
              <a:sym typeface="Century Schoolbook"/>
            </a:endParaRPr>
          </a:p>
          <a:p>
            <a:pPr indent="0" lvl="0" marL="139700" marR="0" rtl="0" algn="l">
              <a:lnSpc>
                <a:spcPct val="100000"/>
              </a:lnSpc>
              <a:spcBef>
                <a:spcPts val="1200"/>
              </a:spcBef>
              <a:spcAft>
                <a:spcPts val="0"/>
              </a:spcAft>
              <a:buClr>
                <a:srgbClr val="000000"/>
              </a:buClr>
              <a:buSzPts val="2400"/>
              <a:buFont typeface="Arial"/>
              <a:buNone/>
            </a:pPr>
            <a:r>
              <a:t/>
            </a:r>
            <a:endParaRPr b="0" i="0" sz="2400" u="none" cap="none" strike="noStrike">
              <a:solidFill>
                <a:schemeClr val="dk1"/>
              </a:solidFill>
              <a:latin typeface="Century Schoolbook"/>
              <a:ea typeface="Century Schoolbook"/>
              <a:cs typeface="Century Schoolbook"/>
              <a:sym typeface="Century Schoolbook"/>
            </a:endParaRPr>
          </a:p>
        </p:txBody>
      </p:sp>
      <p:sp>
        <p:nvSpPr>
          <p:cNvPr id="177" name="Google Shape;177;p28"/>
          <p:cNvSpPr txBox="1"/>
          <p:nvPr/>
        </p:nvSpPr>
        <p:spPr>
          <a:xfrm>
            <a:off x="252900" y="34952"/>
            <a:ext cx="8010300" cy="433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C00000"/>
                </a:solidFill>
                <a:latin typeface="Times New Roman"/>
                <a:ea typeface="Times New Roman"/>
                <a:cs typeface="Times New Roman"/>
                <a:sym typeface="Times New Roman"/>
              </a:rPr>
              <a:t>Project Development Plan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GB"/>
              <a:t>‹#›</a:t>
            </a:fld>
            <a:endParaRPr/>
          </a:p>
        </p:txBody>
      </p:sp>
      <p:sp>
        <p:nvSpPr>
          <p:cNvPr id="183" name="Google Shape;183;p29"/>
          <p:cNvSpPr txBox="1"/>
          <p:nvPr/>
        </p:nvSpPr>
        <p:spPr>
          <a:xfrm>
            <a:off x="1379346" y="4541972"/>
            <a:ext cx="7378753" cy="504673"/>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Clr>
                <a:srgbClr val="000000"/>
              </a:buClr>
              <a:buSzPts val="1800"/>
              <a:buFont typeface="Arial"/>
              <a:buNone/>
            </a:pPr>
            <a:r>
              <a:rPr b="1" i="1" lang="en-GB" sz="1800" u="none" cap="none" strike="noStrike">
                <a:solidFill>
                  <a:srgbClr val="C00000"/>
                </a:solidFill>
                <a:latin typeface="Times New Roman"/>
                <a:ea typeface="Times New Roman"/>
                <a:cs typeface="Times New Roman"/>
                <a:sym typeface="Times New Roman"/>
              </a:rPr>
              <a:t>Department of Computer Science &amp; Engineering, MITSoE, Loni Kalbhor</a:t>
            </a:r>
            <a:endParaRPr b="1" i="1" sz="1800" u="none" cap="none" strike="noStrike">
              <a:solidFill>
                <a:srgbClr val="C00000"/>
              </a:solidFill>
              <a:latin typeface="Times New Roman"/>
              <a:ea typeface="Times New Roman"/>
              <a:cs typeface="Times New Roman"/>
              <a:sym typeface="Times New Roman"/>
            </a:endParaRPr>
          </a:p>
        </p:txBody>
      </p:sp>
      <p:sp>
        <p:nvSpPr>
          <p:cNvPr id="184" name="Google Shape;184;p29"/>
          <p:cNvSpPr/>
          <p:nvPr/>
        </p:nvSpPr>
        <p:spPr>
          <a:xfrm>
            <a:off x="1792145" y="1780672"/>
            <a:ext cx="5330550" cy="53091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GB" sz="4000" u="none" cap="none" strike="noStrike">
                <a:solidFill>
                  <a:srgbClr val="C00000"/>
                </a:solidFill>
                <a:latin typeface="Times New Roman"/>
                <a:ea typeface="Times New Roman"/>
                <a:cs typeface="Times New Roman"/>
                <a:sym typeface="Times New Roman"/>
              </a:rPr>
              <a:t>Thank You</a:t>
            </a:r>
            <a:endParaRPr b="0" i="0" sz="1400" u="none" cap="none" strike="noStrike">
              <a:solidFill>
                <a:srgbClr val="000000"/>
              </a:solidFill>
              <a:latin typeface="Arial"/>
              <a:ea typeface="Arial"/>
              <a:cs typeface="Arial"/>
              <a:sym typeface="Arial"/>
            </a:endParaRPr>
          </a:p>
        </p:txBody>
      </p:sp>
      <p:pic>
        <p:nvPicPr>
          <p:cNvPr id="185" name="Google Shape;185;p29"/>
          <p:cNvPicPr preferRelativeResize="0"/>
          <p:nvPr/>
        </p:nvPicPr>
        <p:blipFill rotWithShape="1">
          <a:blip r:embed="rId3">
            <a:alphaModFix/>
          </a:blip>
          <a:srcRect b="0" l="0" r="0" t="0"/>
          <a:stretch/>
        </p:blipFill>
        <p:spPr>
          <a:xfrm>
            <a:off x="0" y="4359725"/>
            <a:ext cx="999854" cy="7653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